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Tahoma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Tahoma-bold.fntdata"/><Relationship Id="rId16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895bf5bc0_2_13:notes"/>
          <p:cNvSpPr/>
          <p:nvPr>
            <p:ph idx="2" type="sldImg"/>
          </p:nvPr>
        </p:nvSpPr>
        <p:spPr>
          <a:xfrm>
            <a:off x="1003700" y="695135"/>
            <a:ext cx="4849158" cy="342815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5" name="Google Shape;65;g3f895bf5bc0_2_13:notes"/>
          <p:cNvSpPr/>
          <p:nvPr/>
        </p:nvSpPr>
        <p:spPr>
          <a:xfrm>
            <a:off x="685512" y="4343235"/>
            <a:ext cx="5486976" cy="4115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0675" lIns="81350" spcFirstLastPara="1" rIns="81350" wrap="square" tIns="40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895bf5bc0_2_13:notes"/>
          <p:cNvSpPr txBox="1"/>
          <p:nvPr>
            <p:ph idx="1" type="body"/>
          </p:nvPr>
        </p:nvSpPr>
        <p:spPr>
          <a:xfrm>
            <a:off x="685512" y="4343235"/>
            <a:ext cx="5479775" cy="4108356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895bf5bc0_2_22:notes"/>
          <p:cNvSpPr/>
          <p:nvPr>
            <p:ph idx="2" type="sldImg"/>
          </p:nvPr>
        </p:nvSpPr>
        <p:spPr>
          <a:xfrm>
            <a:off x="1003700" y="695135"/>
            <a:ext cx="4849158" cy="342815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g3f895bf5bc0_2_22:notes"/>
          <p:cNvSpPr/>
          <p:nvPr/>
        </p:nvSpPr>
        <p:spPr>
          <a:xfrm>
            <a:off x="685512" y="4343235"/>
            <a:ext cx="5486976" cy="4115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0675" lIns="81350" spcFirstLastPara="1" rIns="81350" wrap="square" tIns="40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895bf5bc0_2_22:notes"/>
          <p:cNvSpPr txBox="1"/>
          <p:nvPr>
            <p:ph idx="1" type="body"/>
          </p:nvPr>
        </p:nvSpPr>
        <p:spPr>
          <a:xfrm>
            <a:off x="685512" y="4343235"/>
            <a:ext cx="5479775" cy="4108356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895bf5bc0_3_0:notes"/>
          <p:cNvSpPr/>
          <p:nvPr>
            <p:ph idx="2" type="sldImg"/>
          </p:nvPr>
        </p:nvSpPr>
        <p:spPr>
          <a:xfrm>
            <a:off x="1003700" y="695135"/>
            <a:ext cx="4849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1" name="Google Shape;81;g3f895bf5bc0_3_0:notes"/>
          <p:cNvSpPr/>
          <p:nvPr/>
        </p:nvSpPr>
        <p:spPr>
          <a:xfrm>
            <a:off x="685512" y="4343235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675" lIns="81350" spcFirstLastPara="1" rIns="81350" wrap="square" tIns="40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f895bf5bc0_3_0:notes"/>
          <p:cNvSpPr txBox="1"/>
          <p:nvPr>
            <p:ph idx="1" type="body"/>
          </p:nvPr>
        </p:nvSpPr>
        <p:spPr>
          <a:xfrm>
            <a:off x="685512" y="4343235"/>
            <a:ext cx="5479800" cy="41085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895bf5bc0_3_6:notes"/>
          <p:cNvSpPr/>
          <p:nvPr>
            <p:ph idx="2" type="sldImg"/>
          </p:nvPr>
        </p:nvSpPr>
        <p:spPr>
          <a:xfrm>
            <a:off x="1003700" y="695135"/>
            <a:ext cx="4849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8" name="Google Shape;88;g3f895bf5bc0_3_6:notes"/>
          <p:cNvSpPr/>
          <p:nvPr/>
        </p:nvSpPr>
        <p:spPr>
          <a:xfrm>
            <a:off x="685512" y="4343235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675" lIns="81350" spcFirstLastPara="1" rIns="81350" wrap="square" tIns="40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895bf5bc0_3_6:notes"/>
          <p:cNvSpPr txBox="1"/>
          <p:nvPr>
            <p:ph idx="1" type="body"/>
          </p:nvPr>
        </p:nvSpPr>
        <p:spPr>
          <a:xfrm>
            <a:off x="685512" y="4343235"/>
            <a:ext cx="5479800" cy="41085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895bf5bc0_3_13:notes"/>
          <p:cNvSpPr/>
          <p:nvPr>
            <p:ph idx="2" type="sldImg"/>
          </p:nvPr>
        </p:nvSpPr>
        <p:spPr>
          <a:xfrm>
            <a:off x="1003700" y="695135"/>
            <a:ext cx="4849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5" name="Google Shape;95;g3f895bf5bc0_3_13:notes"/>
          <p:cNvSpPr/>
          <p:nvPr/>
        </p:nvSpPr>
        <p:spPr>
          <a:xfrm>
            <a:off x="685512" y="4343235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675" lIns="81350" spcFirstLastPara="1" rIns="81350" wrap="square" tIns="40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895bf5bc0_3_13:notes"/>
          <p:cNvSpPr txBox="1"/>
          <p:nvPr>
            <p:ph idx="1" type="body"/>
          </p:nvPr>
        </p:nvSpPr>
        <p:spPr>
          <a:xfrm>
            <a:off x="685512" y="4343235"/>
            <a:ext cx="5479800" cy="41085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95bf5bc0_3_22:notes"/>
          <p:cNvSpPr/>
          <p:nvPr>
            <p:ph idx="2" type="sldImg"/>
          </p:nvPr>
        </p:nvSpPr>
        <p:spPr>
          <a:xfrm>
            <a:off x="1003700" y="695135"/>
            <a:ext cx="4849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4" name="Google Shape;104;g3f895bf5bc0_3_22:notes"/>
          <p:cNvSpPr/>
          <p:nvPr/>
        </p:nvSpPr>
        <p:spPr>
          <a:xfrm>
            <a:off x="685512" y="4343235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675" lIns="81350" spcFirstLastPara="1" rIns="81350" wrap="square" tIns="40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895bf5bc0_3_22:notes"/>
          <p:cNvSpPr txBox="1"/>
          <p:nvPr>
            <p:ph idx="1" type="body"/>
          </p:nvPr>
        </p:nvSpPr>
        <p:spPr>
          <a:xfrm>
            <a:off x="685512" y="4343235"/>
            <a:ext cx="5479800" cy="41085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895bf5bc0_3_28:notes"/>
          <p:cNvSpPr/>
          <p:nvPr>
            <p:ph idx="2" type="sldImg"/>
          </p:nvPr>
        </p:nvSpPr>
        <p:spPr>
          <a:xfrm>
            <a:off x="1003700" y="695135"/>
            <a:ext cx="4849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1" name="Google Shape;111;g3f895bf5bc0_3_28:notes"/>
          <p:cNvSpPr/>
          <p:nvPr/>
        </p:nvSpPr>
        <p:spPr>
          <a:xfrm>
            <a:off x="685512" y="4343235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675" lIns="81350" spcFirstLastPara="1" rIns="81350" wrap="square" tIns="40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895bf5bc0_3_28:notes"/>
          <p:cNvSpPr txBox="1"/>
          <p:nvPr>
            <p:ph idx="1" type="body"/>
          </p:nvPr>
        </p:nvSpPr>
        <p:spPr>
          <a:xfrm>
            <a:off x="685512" y="4343235"/>
            <a:ext cx="5479800" cy="41085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895bf5bc0_3_34:notes"/>
          <p:cNvSpPr/>
          <p:nvPr>
            <p:ph idx="2" type="sldImg"/>
          </p:nvPr>
        </p:nvSpPr>
        <p:spPr>
          <a:xfrm>
            <a:off x="1003700" y="695135"/>
            <a:ext cx="4849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8" name="Google Shape;118;g3f895bf5bc0_3_34:notes"/>
          <p:cNvSpPr/>
          <p:nvPr/>
        </p:nvSpPr>
        <p:spPr>
          <a:xfrm>
            <a:off x="685512" y="4343235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675" lIns="81350" spcFirstLastPara="1" rIns="81350" wrap="square" tIns="40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895bf5bc0_3_34:notes"/>
          <p:cNvSpPr txBox="1"/>
          <p:nvPr>
            <p:ph idx="1" type="body"/>
          </p:nvPr>
        </p:nvSpPr>
        <p:spPr>
          <a:xfrm>
            <a:off x="685512" y="4343235"/>
            <a:ext cx="5479800" cy="41085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895bf5bc0_2_28:notes"/>
          <p:cNvSpPr/>
          <p:nvPr>
            <p:ph idx="2" type="sldImg"/>
          </p:nvPr>
        </p:nvSpPr>
        <p:spPr>
          <a:xfrm>
            <a:off x="1003700" y="695135"/>
            <a:ext cx="4849158" cy="342815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5" name="Google Shape;125;g3f895bf5bc0_2_28:notes"/>
          <p:cNvSpPr/>
          <p:nvPr/>
        </p:nvSpPr>
        <p:spPr>
          <a:xfrm>
            <a:off x="685512" y="4343235"/>
            <a:ext cx="5486976" cy="4115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0675" lIns="81350" spcFirstLastPara="1" rIns="81350" wrap="square" tIns="40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895bf5bc0_2_28:notes"/>
          <p:cNvSpPr txBox="1"/>
          <p:nvPr>
            <p:ph idx="1" type="body"/>
          </p:nvPr>
        </p:nvSpPr>
        <p:spPr>
          <a:xfrm>
            <a:off x="685512" y="4343235"/>
            <a:ext cx="5479775" cy="4108356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622080" y="1932412"/>
            <a:ext cx="7050240" cy="13333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244160" y="3524997"/>
            <a:ext cx="5806080" cy="1589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250">
            <a:noAutofit/>
          </a:bodyPr>
          <a:lstStyle>
            <a:lvl1pPr lvl="0" algn="l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456480" y="4685596"/>
            <a:ext cx="2122560" cy="347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27680" y="4685596"/>
            <a:ext cx="2891520" cy="347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56320" y="4685596"/>
            <a:ext cx="2122560" cy="347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6480" y="204473"/>
            <a:ext cx="8220960" cy="851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6480" y="1203798"/>
            <a:ext cx="8220960" cy="2974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250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700"/>
              </a:spcBef>
              <a:spcAft>
                <a:spcPts val="0"/>
              </a:spcAft>
              <a:buSzPts val="1300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50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3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3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3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3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00"/>
              </a:spcBef>
              <a:spcAft>
                <a:spcPts val="0"/>
              </a:spcAft>
              <a:buSzPts val="13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6480" y="4685596"/>
            <a:ext cx="2122560" cy="347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7680" y="4685596"/>
            <a:ext cx="2891520" cy="347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6320" y="4685596"/>
            <a:ext cx="2122560" cy="347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300"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4319"/>
            <a:ext cx="9208477" cy="51722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720" y="-17279"/>
            <a:ext cx="9227197" cy="518381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2331350" y="778967"/>
            <a:ext cx="3729600" cy="11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Tahoma"/>
              <a:buNone/>
            </a:pPr>
            <a:r>
              <a:rPr b="1" lang="pt-BR" sz="3600">
                <a:solidFill>
                  <a:srgbClr val="006600"/>
                </a:solidFill>
                <a:latin typeface="Tahoma"/>
                <a:ea typeface="Tahoma"/>
                <a:cs typeface="Tahoma"/>
                <a:sym typeface="Tahoma"/>
              </a:rPr>
              <a:t>Proposta de projeto</a:t>
            </a:r>
            <a:endParaRPr sz="1300"/>
          </a:p>
        </p:txBody>
      </p:sp>
      <p:sp>
        <p:nvSpPr>
          <p:cNvPr id="70" name="Google Shape;70;p15"/>
          <p:cNvSpPr txBox="1"/>
          <p:nvPr/>
        </p:nvSpPr>
        <p:spPr>
          <a:xfrm>
            <a:off x="1856160" y="1974170"/>
            <a:ext cx="4151520" cy="32686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800"/>
              <a:buFont typeface="Tahoma"/>
              <a:buNone/>
            </a:pPr>
            <a:r>
              <a:rPr lang="pt-BR" sz="1800">
                <a:solidFill>
                  <a:srgbClr val="006600"/>
                </a:solidFill>
                <a:latin typeface="Tahoma"/>
                <a:ea typeface="Tahoma"/>
                <a:cs typeface="Tahoma"/>
                <a:sym typeface="Tahoma"/>
              </a:rPr>
              <a:t>Laboratório de Pesquisa</a:t>
            </a:r>
            <a:endParaRPr sz="1300"/>
          </a:p>
        </p:txBody>
      </p:sp>
      <p:sp>
        <p:nvSpPr>
          <p:cNvPr id="71" name="Google Shape;71;p15"/>
          <p:cNvSpPr txBox="1"/>
          <p:nvPr/>
        </p:nvSpPr>
        <p:spPr>
          <a:xfrm>
            <a:off x="291000" y="3684300"/>
            <a:ext cx="57699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66CC00"/>
              </a:buClr>
              <a:buSzPts val="1800"/>
              <a:buFont typeface="Tahoma"/>
              <a:buNone/>
            </a:pPr>
            <a:r>
              <a:rPr lang="pt-BR" sz="1800">
                <a:solidFill>
                  <a:srgbClr val="66CC00"/>
                </a:solidFill>
                <a:latin typeface="Tahoma"/>
                <a:ea typeface="Tahoma"/>
                <a:cs typeface="Tahoma"/>
                <a:sym typeface="Tahoma"/>
              </a:rPr>
              <a:t>Gabriel de Paula Brunetti, Gustavo Alves Caetano e Kaiva Silverio Gums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1535040" y="587499"/>
            <a:ext cx="5813280" cy="32686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2000"/>
              <a:buFont typeface="Tahoma"/>
              <a:buNone/>
            </a:pPr>
            <a:r>
              <a:rPr b="1" lang="pt-BR" sz="2000">
                <a:solidFill>
                  <a:srgbClr val="FF3333"/>
                </a:solidFill>
                <a:latin typeface="Tahoma"/>
                <a:ea typeface="Tahoma"/>
                <a:cs typeface="Tahoma"/>
                <a:sym typeface="Tahoma"/>
              </a:rPr>
              <a:t>Ideia inicial</a:t>
            </a:r>
            <a:endParaRPr sz="1300"/>
          </a:p>
        </p:txBody>
      </p:sp>
      <p:sp>
        <p:nvSpPr>
          <p:cNvPr id="78" name="Google Shape;78;p16"/>
          <p:cNvSpPr txBox="1"/>
          <p:nvPr/>
        </p:nvSpPr>
        <p:spPr>
          <a:xfrm>
            <a:off x="1675175" y="1289800"/>
            <a:ext cx="6268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Métricas do Tráfego Originado por Agentes de IA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Identificação por autodeclaração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Identificação por mapeamento de infraestrutura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1535040" y="587499"/>
            <a:ext cx="58134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2000"/>
              <a:buFont typeface="Tahoma"/>
              <a:buNone/>
            </a:pPr>
            <a:r>
              <a:rPr b="1" lang="pt-BR" sz="2000">
                <a:solidFill>
                  <a:srgbClr val="FF3333"/>
                </a:solidFill>
                <a:latin typeface="Tahoma"/>
                <a:ea typeface="Tahoma"/>
                <a:cs typeface="Tahoma"/>
                <a:sym typeface="Tahoma"/>
              </a:rPr>
              <a:t>Framework - Cilium</a:t>
            </a:r>
            <a:endParaRPr sz="1300"/>
          </a:p>
        </p:txBody>
      </p:sp>
      <p:sp>
        <p:nvSpPr>
          <p:cNvPr id="85" name="Google Shape;85;p17"/>
          <p:cNvSpPr txBox="1"/>
          <p:nvPr/>
        </p:nvSpPr>
        <p:spPr>
          <a:xfrm>
            <a:off x="1675175" y="1289800"/>
            <a:ext cx="714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Rede: Comunicação de alta performance entre Pods e Clusters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Segurança: Políticas de rede até a camada de aplicação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Visibilidade: Observabilidade nativa do tráfego com Hubble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1535040" y="587499"/>
            <a:ext cx="58134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2000"/>
              <a:buFont typeface="Tahoma"/>
              <a:buNone/>
            </a:pPr>
            <a:r>
              <a:rPr b="1" lang="pt-BR" sz="2000">
                <a:solidFill>
                  <a:srgbClr val="FF3333"/>
                </a:solidFill>
                <a:latin typeface="Tahoma"/>
                <a:ea typeface="Tahoma"/>
                <a:cs typeface="Tahoma"/>
                <a:sym typeface="Tahoma"/>
              </a:rPr>
              <a:t>Passos iniciais</a:t>
            </a:r>
            <a:endParaRPr sz="1300"/>
          </a:p>
        </p:txBody>
      </p:sp>
      <p:sp>
        <p:nvSpPr>
          <p:cNvPr id="92" name="Google Shape;92;p18"/>
          <p:cNvSpPr txBox="1"/>
          <p:nvPr/>
        </p:nvSpPr>
        <p:spPr>
          <a:xfrm>
            <a:off x="1675175" y="1289800"/>
            <a:ext cx="7149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Instalação do framework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Criação do cluster Kubernetes (kind/</a:t>
            </a:r>
            <a:r>
              <a:rPr lang="pt-BR" sz="1600"/>
              <a:t>minikube</a:t>
            </a:r>
            <a:r>
              <a:rPr lang="pt-BR" sz="1600"/>
              <a:t>)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Executar um caso para experiência e familiaridade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Definição de uma arquitetura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/>
        </p:nvSpPr>
        <p:spPr>
          <a:xfrm>
            <a:off x="1535040" y="587499"/>
            <a:ext cx="58134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2000"/>
              <a:buFont typeface="Tahoma"/>
              <a:buNone/>
            </a:pPr>
            <a:r>
              <a:rPr b="1" lang="pt-BR" sz="2000">
                <a:solidFill>
                  <a:srgbClr val="FF3333"/>
                </a:solidFill>
                <a:latin typeface="Tahoma"/>
                <a:ea typeface="Tahoma"/>
                <a:cs typeface="Tahoma"/>
                <a:sym typeface="Tahoma"/>
              </a:rPr>
              <a:t>Arquitetura da Aplicação</a:t>
            </a:r>
            <a:endParaRPr sz="1300"/>
          </a:p>
        </p:txBody>
      </p:sp>
      <p:sp>
        <p:nvSpPr>
          <p:cNvPr id="99" name="Google Shape;99;p19"/>
          <p:cNvSpPr/>
          <p:nvPr/>
        </p:nvSpPr>
        <p:spPr>
          <a:xfrm>
            <a:off x="3577050" y="1340850"/>
            <a:ext cx="1989900" cy="24618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Backend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Camada de regras de negócio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Intermediário legítimo entre Frontend e Banco de Dados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1134100" y="1340850"/>
            <a:ext cx="1989900" cy="24618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Frontend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Interface pública do usuário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Comunicação apenas com o Backend para processar requisições</a:t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6020000" y="1340850"/>
            <a:ext cx="1989900" cy="24618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Banco de Dados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Armazenamento de dados sensíveis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Deve aceitar conexões exclusivamente originadas do Backend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1535040" y="587499"/>
            <a:ext cx="58134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2000"/>
              <a:buFont typeface="Tahoma"/>
              <a:buNone/>
            </a:pPr>
            <a:r>
              <a:rPr b="1" lang="pt-BR" sz="2000">
                <a:solidFill>
                  <a:srgbClr val="FF3333"/>
                </a:solidFill>
                <a:latin typeface="Tahoma"/>
                <a:ea typeface="Tahoma"/>
                <a:cs typeface="Tahoma"/>
                <a:sym typeface="Tahoma"/>
              </a:rPr>
              <a:t>Objetivo</a:t>
            </a:r>
            <a:endParaRPr sz="1300"/>
          </a:p>
        </p:txBody>
      </p:sp>
      <p:sp>
        <p:nvSpPr>
          <p:cNvPr id="108" name="Google Shape;108;p20"/>
          <p:cNvSpPr txBox="1"/>
          <p:nvPr/>
        </p:nvSpPr>
        <p:spPr>
          <a:xfrm>
            <a:off x="1675175" y="1289800"/>
            <a:ext cx="7149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Por padrão no Kubernetes, a rede é plana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Garantir que</a:t>
            </a:r>
            <a:r>
              <a:rPr lang="pt-BR" sz="1600"/>
              <a:t> o </a:t>
            </a:r>
            <a:r>
              <a:rPr lang="pt-BR" sz="1600"/>
              <a:t>Frontend não se comunique diretamente com o Banco de Dados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Todo tráfego legítimo deve passar pelo Backend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/>
        </p:nvSpPr>
        <p:spPr>
          <a:xfrm>
            <a:off x="1535040" y="587499"/>
            <a:ext cx="58134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2000"/>
              <a:buFont typeface="Tahoma"/>
              <a:buNone/>
            </a:pPr>
            <a:r>
              <a:rPr b="1" lang="pt-BR" sz="2000">
                <a:solidFill>
                  <a:srgbClr val="FF3333"/>
                </a:solidFill>
                <a:latin typeface="Tahoma"/>
                <a:ea typeface="Tahoma"/>
                <a:cs typeface="Tahoma"/>
                <a:sym typeface="Tahoma"/>
              </a:rPr>
              <a:t>Execução e Validação</a:t>
            </a:r>
            <a:endParaRPr sz="1300"/>
          </a:p>
        </p:txBody>
      </p:sp>
      <p:sp>
        <p:nvSpPr>
          <p:cNvPr id="115" name="Google Shape;115;p21"/>
          <p:cNvSpPr txBox="1"/>
          <p:nvPr/>
        </p:nvSpPr>
        <p:spPr>
          <a:xfrm>
            <a:off x="1675175" y="1289800"/>
            <a:ext cx="7149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Definir política vinculada ao Banco de Dados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Aceitar apenas conexões do Backend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Utilizar o Hubble para visualizar graficamente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Gerar um comando do Pod do Frontend para o Banco de Dados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Observar o status DROPPED pela política ativada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/>
        </p:nvSpPr>
        <p:spPr>
          <a:xfrm>
            <a:off x="1535040" y="587499"/>
            <a:ext cx="58134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2000"/>
              <a:buFont typeface="Tahoma"/>
              <a:buNone/>
            </a:pPr>
            <a:r>
              <a:rPr b="1" lang="pt-BR" sz="2000">
                <a:solidFill>
                  <a:srgbClr val="FF3333"/>
                </a:solidFill>
                <a:latin typeface="Tahoma"/>
                <a:ea typeface="Tahoma"/>
                <a:cs typeface="Tahoma"/>
                <a:sym typeface="Tahoma"/>
              </a:rPr>
              <a:t>Próximos passos</a:t>
            </a:r>
            <a:endParaRPr sz="1300"/>
          </a:p>
        </p:txBody>
      </p:sp>
      <p:sp>
        <p:nvSpPr>
          <p:cNvPr id="122" name="Google Shape;122;p22"/>
          <p:cNvSpPr txBox="1"/>
          <p:nvPr/>
        </p:nvSpPr>
        <p:spPr>
          <a:xfrm>
            <a:off x="1675175" y="1289800"/>
            <a:ext cx="7149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Escalar o Ambiente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Simular diferentes tipos de ataque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Definir políticas para mitigação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Identificação de agentes legítimos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40" y="2880"/>
            <a:ext cx="9142240" cy="5142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